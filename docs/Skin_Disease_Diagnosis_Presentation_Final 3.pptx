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11"/>
    <p:sldId id="277" r:id="rId12"/>
    <p:sldId id="265" r:id="rId13"/>
    <p:sldId id="266" r:id="rId14"/>
    <p:sldId id="279" r:id="rId15"/>
    <p:sldId id="267" r:id="rId16"/>
    <p:sldId id="268" r:id="rId17"/>
    <p:sldId id="269" r:id="rId18"/>
    <p:sldId id="270" r:id="rId19"/>
    <p:sldId id="275" r:id="rId20"/>
    <p:sldId id="276" r:id="rId21"/>
    <p:sldId id="271" r:id="rId22"/>
    <p:sldId id="272" r:id="rId23"/>
    <p:sldId id="273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Balancing</c:v>
                </c:pt>
              </c:strCache>
            </c:strRef>
          </c:tx>
          <c:spPr>
            <a:solidFill>
              <a:srgbClr val="D98878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NV</c:v>
                </c:pt>
                <c:pt idx="1">
                  <c:v>MEL</c:v>
                </c:pt>
                <c:pt idx="2">
                  <c:v>BKL</c:v>
                </c:pt>
                <c:pt idx="3">
                  <c:v>BCC</c:v>
                </c:pt>
                <c:pt idx="4">
                  <c:v>AKIEC</c:v>
                </c:pt>
                <c:pt idx="5">
                  <c:v>VASC</c:v>
                </c:pt>
                <c:pt idx="6">
                  <c:v>DF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4023</c:v>
                </c:pt>
                <c:pt idx="1">
                  <c:v>668</c:v>
                </c:pt>
                <c:pt idx="2">
                  <c:v>660</c:v>
                </c:pt>
                <c:pt idx="3">
                  <c:v>308</c:v>
                </c:pt>
                <c:pt idx="4">
                  <c:v>196</c:v>
                </c:pt>
                <c:pt idx="5">
                  <c:v>85</c:v>
                </c:pt>
                <c:pt idx="6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92-4C31-96C7-5353771BBD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Balancing</c:v>
                </c:pt>
              </c:strCache>
            </c:strRef>
          </c:tx>
          <c:spPr>
            <a:solidFill>
              <a:srgbClr val="1B3A4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NV</c:v>
                </c:pt>
                <c:pt idx="1">
                  <c:v>MEL</c:v>
                </c:pt>
                <c:pt idx="2">
                  <c:v>BKL</c:v>
                </c:pt>
                <c:pt idx="3">
                  <c:v>BCC</c:v>
                </c:pt>
                <c:pt idx="4">
                  <c:v>AKIEC</c:v>
                </c:pt>
                <c:pt idx="5">
                  <c:v>VASC</c:v>
                </c:pt>
                <c:pt idx="6">
                  <c:v>DF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4023</c:v>
                </c:pt>
                <c:pt idx="1">
                  <c:v>4023</c:v>
                </c:pt>
                <c:pt idx="2">
                  <c:v>4023</c:v>
                </c:pt>
                <c:pt idx="3">
                  <c:v>4023</c:v>
                </c:pt>
                <c:pt idx="4">
                  <c:v>4023</c:v>
                </c:pt>
                <c:pt idx="5">
                  <c:v>4023</c:v>
                </c:pt>
                <c:pt idx="6">
                  <c:v>4023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92-4C31-96C7-5353771BBD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5A6B7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 %</c:v>
                </c:pt>
              </c:strCache>
            </c:strRef>
          </c:tx>
          <c:spPr>
            <a:ln w="31750" cap="flat">
              <a:solidFill>
                <a:srgbClr val="D9887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8878"/>
              </a:solidFill>
              <a:ln w="9525" cap="flat">
                <a:solidFill>
                  <a:srgbClr val="D98878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72.319999999999993</c:v>
                </c:pt>
                <c:pt idx="1">
                  <c:v>88.44</c:v>
                </c:pt>
                <c:pt idx="2">
                  <c:v>92.86</c:v>
                </c:pt>
                <c:pt idx="3">
                  <c:v>94.82</c:v>
                </c:pt>
                <c:pt idx="4">
                  <c:v>95.92</c:v>
                </c:pt>
                <c:pt idx="5">
                  <c:v>96.93</c:v>
                </c:pt>
                <c:pt idx="6">
                  <c:v>97.37</c:v>
                </c:pt>
                <c:pt idx="7">
                  <c:v>97.72</c:v>
                </c:pt>
                <c:pt idx="8">
                  <c:v>97.97</c:v>
                </c:pt>
                <c:pt idx="9">
                  <c:v>98.38</c:v>
                </c:pt>
                <c:pt idx="10">
                  <c:v>98.6</c:v>
                </c:pt>
                <c:pt idx="11">
                  <c:v>98.69</c:v>
                </c:pt>
                <c:pt idx="12">
                  <c:v>98.73</c:v>
                </c:pt>
                <c:pt idx="13">
                  <c:v>98.82</c:v>
                </c:pt>
                <c:pt idx="14">
                  <c:v>98.97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71-4C7B-B9F0-E2EB702CA8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 %</c:v>
                </c:pt>
              </c:strCache>
            </c:strRef>
          </c:tx>
          <c:spPr>
            <a:ln w="31750" cap="flat">
              <a:solidFill>
                <a:srgbClr val="1B3A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3A4A"/>
              </a:solidFill>
              <a:ln w="9525" cap="flat">
                <a:solidFill>
                  <a:srgbClr val="1B3A4A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79.48</c:v>
                </c:pt>
                <c:pt idx="1">
                  <c:v>82.93</c:v>
                </c:pt>
                <c:pt idx="2">
                  <c:v>84.62</c:v>
                </c:pt>
                <c:pt idx="3">
                  <c:v>85.87</c:v>
                </c:pt>
                <c:pt idx="4">
                  <c:v>84.32</c:v>
                </c:pt>
                <c:pt idx="5">
                  <c:v>86.62</c:v>
                </c:pt>
                <c:pt idx="6">
                  <c:v>86.77</c:v>
                </c:pt>
                <c:pt idx="7">
                  <c:v>88.17</c:v>
                </c:pt>
                <c:pt idx="8">
                  <c:v>87.82</c:v>
                </c:pt>
                <c:pt idx="9">
                  <c:v>87.57</c:v>
                </c:pt>
                <c:pt idx="10">
                  <c:v>87.52</c:v>
                </c:pt>
                <c:pt idx="11">
                  <c:v>88.52</c:v>
                </c:pt>
                <c:pt idx="12">
                  <c:v>87.27</c:v>
                </c:pt>
                <c:pt idx="13">
                  <c:v>87.72</c:v>
                </c:pt>
                <c:pt idx="14">
                  <c:v>87.47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A71-4C7B-B9F0-E2EB702CA8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Val Macro F1 (×100)</c:v>
                </c:pt>
              </c:strCache>
            </c:strRef>
          </c:tx>
          <c:spPr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68.84</c:v>
                </c:pt>
                <c:pt idx="1">
                  <c:v>74.52</c:v>
                </c:pt>
                <c:pt idx="2">
                  <c:v>76.48</c:v>
                </c:pt>
                <c:pt idx="3">
                  <c:v>79.08</c:v>
                </c:pt>
                <c:pt idx="4">
                  <c:v>78.459999999999994</c:v>
                </c:pt>
                <c:pt idx="5">
                  <c:v>78.319999999999993</c:v>
                </c:pt>
                <c:pt idx="6">
                  <c:v>81.2</c:v>
                </c:pt>
                <c:pt idx="7">
                  <c:v>80.84</c:v>
                </c:pt>
                <c:pt idx="8">
                  <c:v>80.010000000000005</c:v>
                </c:pt>
                <c:pt idx="9">
                  <c:v>78.56</c:v>
                </c:pt>
                <c:pt idx="10">
                  <c:v>81.709999999999994</c:v>
                </c:pt>
                <c:pt idx="11">
                  <c:v>82.54</c:v>
                </c:pt>
                <c:pt idx="12">
                  <c:v>78.2</c:v>
                </c:pt>
                <c:pt idx="13">
                  <c:v>78.98</c:v>
                </c:pt>
                <c:pt idx="14">
                  <c:v>78.239999999999995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A71-4C7B-B9F0-E2EB702CA8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Percent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5A6B7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0404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2000" cy="137160"/>
          </a:xfrm>
          <a:prstGeom prst="rect">
            <a:avLst/>
          </a:prstGeom>
          <a:solidFill>
            <a:srgbClr val="1E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1E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2560320" cy="1440180"/>
          </a:xfrm>
          <a:prstGeom prst="rect">
            <a:avLst/>
          </a:prstGeom>
        </p:spPr>
      </p:pic>
      <p:pic>
        <p:nvPicPr>
          <p:cNvPr id="6" name="Picture 5" descr="image(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365760"/>
            <a:ext cx="2560320" cy="23810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56032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3A3A"/>
                </a:solidFill>
              </a:defRPr>
            </a:pPr>
            <a:r>
              <a:t>Skin Disease Diagnosis System</a:t>
            </a:r>
          </a:p>
          <a:p>
            <a:pPr algn="ctr">
              <a:spcBef>
                <a:spcPts val="600"/>
              </a:spcBef>
              <a:defRPr sz="3600" b="1">
                <a:solidFill>
                  <a:srgbClr val="1E3A3A"/>
                </a:solidFill>
              </a:defRPr>
            </a:pPr>
            <a:r>
              <a:t>with Symptom-Based Reasoning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D6D7E"/>
                </a:solidFill>
              </a:defRPr>
            </a:pPr>
            <a:r>
              <a:t>MCIT — Digital Egypt Pioneers Initiative (DEPI)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D6D7E"/>
                </a:solidFill>
              </a:defRPr>
            </a:pPr>
            <a:r>
              <a:t>Supervised by</a:t>
            </a:r>
          </a:p>
          <a:p>
            <a:pPr algn="ctr">
              <a:spcBef>
                <a:spcPts val="400"/>
              </a:spcBef>
              <a:defRPr sz="2200" b="1">
                <a:solidFill>
                  <a:srgbClr val="1E3A3A"/>
                </a:solidFill>
              </a:defRPr>
            </a:pPr>
            <a:r>
              <a:t>Eng. Mahmoud Talaat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D47A6A"/>
                </a:solidFill>
              </a:defRPr>
            </a:pPr>
            <a:r>
              <a:t>eyouth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BUILT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26364" y="1874520"/>
            <a:ext cx="2542032" cy="3931920"/>
          </a:xfrm>
          <a:prstGeom prst="roundRect">
            <a:avLst>
              <a:gd name="adj" fmla="val 3237"/>
            </a:avLst>
          </a:prstGeom>
          <a:solidFill>
            <a:srgbClr val="EEF3F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17320" y="2377440"/>
            <a:ext cx="960120" cy="960120"/>
          </a:xfrm>
          <a:prstGeom prst="ellipse">
            <a:avLst/>
          </a:prstGeom>
          <a:solidFill>
            <a:srgbClr val="D988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492" y="2624328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3524" y="365760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Rawda Amr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7380" y="4297680"/>
            <a:ext cx="22000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97380" y="4297680"/>
            <a:ext cx="22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24428" y="1874520"/>
            <a:ext cx="2542032" cy="3931920"/>
          </a:xfrm>
          <a:prstGeom prst="roundRect">
            <a:avLst>
              <a:gd name="adj" fmla="val 3237"/>
            </a:avLst>
          </a:prstGeom>
          <a:solidFill>
            <a:srgbClr val="EEF3F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15384" y="2377440"/>
            <a:ext cx="960120" cy="960120"/>
          </a:xfrm>
          <a:prstGeom prst="ellipse">
            <a:avLst/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556" y="2624328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1588" y="365760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Yassin Taher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595444" y="4297680"/>
            <a:ext cx="22000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595444" y="4297680"/>
            <a:ext cx="22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22492" y="1874520"/>
            <a:ext cx="2542032" cy="3931920"/>
          </a:xfrm>
          <a:prstGeom prst="roundRect">
            <a:avLst>
              <a:gd name="adj" fmla="val 3237"/>
            </a:avLst>
          </a:prstGeom>
          <a:solidFill>
            <a:srgbClr val="EEF3F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013448" y="2377440"/>
            <a:ext cx="960120" cy="9601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620" y="2624328"/>
            <a:ext cx="493776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9652" y="365760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 Akram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393508" y="4297680"/>
            <a:ext cx="22000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393508" y="4297680"/>
            <a:ext cx="22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Engineer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9020556" y="1874520"/>
            <a:ext cx="2542032" cy="3931920"/>
          </a:xfrm>
          <a:prstGeom prst="roundRect">
            <a:avLst>
              <a:gd name="adj" fmla="val 3237"/>
            </a:avLst>
          </a:prstGeom>
          <a:solidFill>
            <a:srgbClr val="EEF3F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811512" y="2377440"/>
            <a:ext cx="960120" cy="960120"/>
          </a:xfrm>
          <a:prstGeom prst="ellipse">
            <a:avLst/>
          </a:prstGeom>
          <a:solidFill>
            <a:srgbClr val="5A8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4684" y="2624328"/>
            <a:ext cx="493776" cy="4937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57716" y="365760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Fady Mamdouh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9191572" y="4297680"/>
            <a:ext cx="22000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9191572" y="4297680"/>
            <a:ext cx="22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Engineer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— MCIT · Digital Egypt Pioneers Initiative (DEPI)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LESION AI  ·  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943600" cy="4709160"/>
          </a:xfrm>
          <a:prstGeom prst="roundRect">
            <a:avLst>
              <a:gd name="adj" fmla="val 1553"/>
            </a:avLst>
          </a:prstGeom>
          <a:solidFill>
            <a:srgbClr val="1B3A4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D98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60120" y="2148840"/>
            <a:ext cx="51206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E6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cancer is among the most common cancers worldwide, and early, accurate triage of lesions is critical for patient outcomes.</a:t>
            </a:r>
            <a:endParaRPr lang="en-US" sz="1450" dirty="0"/>
          </a:p>
          <a:p>
            <a:pPr marL="0" indent="0">
              <a:lnSpc>
                <a:spcPct val="128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E6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deep learning system that classifies dermoscopic images into 7 diagnostic categories (from the HAM10000 dataset), while also incorporating patient age, sex, and lesion location.</a:t>
            </a:r>
            <a:endParaRPr lang="en-US" sz="14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6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image and clinical evidence mirrors how a dermatologist reasons — producing a more context-aware, trustworthy preliminary read.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720840" y="1417320"/>
            <a:ext cx="5029200" cy="4709160"/>
          </a:xfrm>
          <a:prstGeom prst="roundRect">
            <a:avLst>
              <a:gd name="adj" fmla="val 1553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95160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Diagnostic Classes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95160" y="2148840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95160" y="214884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2148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Melanoma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95160" y="2715768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95160" y="271576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27157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Melanocytic Nevus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95160" y="3282696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95160" y="3282696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32826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Basal Cell Carcinoma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95160" y="3849624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95160" y="384962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AKIEC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38496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Actinic Keratosis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95160" y="4416552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95160" y="441655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44165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Keratosis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95160" y="4983480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95160" y="498348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49834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Dermatofibroma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995160" y="5550408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95160" y="555040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0" y="55504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Lesion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6492240" cy="4709160"/>
          </a:xfrm>
          <a:prstGeom prst="roundRect">
            <a:avLst>
              <a:gd name="adj" fmla="val 1553"/>
            </a:avLst>
          </a:prstGeom>
          <a:solidFill>
            <a:srgbClr val="1B3A4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E6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Dermatology has a shortage of specialists relative to demand, and patients often wait weeks for an in-person evaluation of a suspicious lesion.</a:t>
            </a:r>
            <a:endParaRPr lang="en-US" sz="1450" dirty="0"/>
          </a:p>
          <a:p>
            <a:pPr marL="0" indent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E6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Image-only classifiers can be misled by lesions that look visually similar but carry very different risk — age, body site, and sex materially change the odds of malignancy.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6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fuses image and clinical context, and clearly communicates risk level, can shorten time-to-triage and help prioritize urgent cases.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269480" y="1417320"/>
            <a:ext cx="4480560" cy="4709160"/>
          </a:xfrm>
          <a:prstGeom prst="roundRect">
            <a:avLst>
              <a:gd name="adj" fmla="val 1633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43800" y="16276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Tiers Communicated to Users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543800" y="2386584"/>
            <a:ext cx="256032" cy="256032"/>
          </a:xfrm>
          <a:prstGeom prst="ellipse">
            <a:avLst/>
          </a:prstGeom>
          <a:solidFill>
            <a:srgbClr val="C14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36992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36992" y="26609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Melanoma (MEL)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43800" y="3227832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936992" y="3172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36992" y="35021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BCC, AKIEC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43800" y="4069080"/>
            <a:ext cx="256032" cy="256032"/>
          </a:xfrm>
          <a:prstGeom prst="ellipse">
            <a:avLst/>
          </a:prstGeom>
          <a:solidFill>
            <a:srgbClr val="E8C4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36992" y="40142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36992" y="4343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BKL, VASC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43800" y="4910328"/>
            <a:ext cx="256032" cy="256032"/>
          </a:xfrm>
          <a:prstGeom prst="ellipse">
            <a:avLst/>
          </a:prstGeom>
          <a:solidFill>
            <a:srgbClr val="4C9A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936992" y="48554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36992" y="51846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NV, DF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639312" cy="4480560"/>
          </a:xfrm>
          <a:prstGeom prst="roundRect">
            <a:avLst>
              <a:gd name="adj" fmla="val 2261"/>
            </a:avLst>
          </a:prstGeom>
          <a:solidFill>
            <a:srgbClr val="EEF3F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822960" cy="822960"/>
          </a:xfrm>
          <a:prstGeom prst="ellipse">
            <a:avLst/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9264" y="20208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8036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Teledermatology Platforms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611880"/>
            <a:ext cx="29992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instant, risk-tiered pre-screening before a live consult, improving triage speed.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52544" y="1508760"/>
            <a:ext cx="3639312" cy="4480560"/>
          </a:xfrm>
          <a:prstGeom prst="roundRect">
            <a:avLst>
              <a:gd name="adj" fmla="val 2261"/>
            </a:avLst>
          </a:prstGeom>
          <a:solidFill>
            <a:srgbClr val="EEF3F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72584" y="1828800"/>
            <a:ext cx="822960" cy="822960"/>
          </a:xfrm>
          <a:prstGeom prst="ellipse">
            <a:avLst/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64608" y="202082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2584" y="288036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Dermatologists &amp; GPs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72584" y="3611880"/>
            <a:ext cx="29992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second-opinion tool with Grad-CAM-style transparency and confidence scores per class.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47888" y="1508760"/>
            <a:ext cx="3639312" cy="4480560"/>
          </a:xfrm>
          <a:prstGeom prst="roundRect">
            <a:avLst>
              <a:gd name="adj" fmla="val 2261"/>
            </a:avLst>
          </a:prstGeom>
          <a:solidFill>
            <a:srgbClr val="EEF3F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567928" y="1828800"/>
            <a:ext cx="822960" cy="822960"/>
          </a:xfrm>
          <a:prstGeom prst="ellipse">
            <a:avLst/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952" y="202082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67928" y="288036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67928" y="3611880"/>
            <a:ext cx="29992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low-cost initial guidance on whether a lesion warrants urgent follow-up.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132B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5506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HAM10000 Baseline CNN (ISIC 2018 Task 3)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12264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F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7-class classification, single-image CNN, no clinical fusion.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909560" y="1828800"/>
            <a:ext cx="3566160" cy="731520"/>
          </a:xfrm>
          <a:prstGeom prst="roundRect">
            <a:avLst>
              <a:gd name="adj" fmla="val 50000"/>
            </a:avLst>
          </a:prstGeom>
          <a:solidFill>
            <a:srgbClr val="2450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09560" y="1828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Top-1 Acc: ~85%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081528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132B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2278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ResNet/DenseNet Transfer Learning Studies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68503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F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Image-only transfer learning on HAM10000 with heavy class imbalance.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09560" y="3401568"/>
            <a:ext cx="3566160" cy="731520"/>
          </a:xfrm>
          <a:prstGeom prst="roundRect">
            <a:avLst>
              <a:gd name="adj" fmla="val 50000"/>
            </a:avLst>
          </a:prstGeom>
          <a:solidFill>
            <a:srgbClr val="2450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09560" y="34015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typically 0.65 – 0.75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654296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D988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8006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— Multimodal Fusion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52578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 image branch + MLP clinical branch (age, sex, site), oversampled training.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09560" y="4974336"/>
            <a:ext cx="3566160" cy="731520"/>
          </a:xfrm>
          <a:prstGeom prst="roundRect">
            <a:avLst>
              <a:gd name="adj" fmla="val 50000"/>
            </a:avLst>
          </a:prstGeom>
          <a:solidFill>
            <a:srgbClr val="132B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909560" y="497433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 86.9% · Macro F1 0.786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3931920"/>
          </a:xfrm>
          <a:prstGeom prst="roundRect">
            <a:avLst>
              <a:gd name="adj" fmla="val 2308"/>
            </a:avLst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777240" cy="777240"/>
          </a:xfrm>
          <a:prstGeom prst="ellipse">
            <a:avLst/>
          </a:prstGeom>
          <a:solidFill>
            <a:srgbClr val="D988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21945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 dermoscopic photo plus age, sex, and lesion location.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133088" y="3520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8878"/>
                </a:solidFill>
              </a:rPr>
              <a:t>→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434840" y="1828800"/>
            <a:ext cx="3566160" cy="3931920"/>
          </a:xfrm>
          <a:prstGeom prst="roundRect">
            <a:avLst>
              <a:gd name="adj" fmla="val 2308"/>
            </a:avLst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09160" y="2148840"/>
            <a:ext cx="777240" cy="777240"/>
          </a:xfrm>
          <a:prstGeom prst="ellipse">
            <a:avLst/>
          </a:prstGeom>
          <a:solidFill>
            <a:srgbClr val="D988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0916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19456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0916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&amp; Classify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709160" y="36576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multimodal network fuses image features with encoded clinical data to predict 1 of 7 classes.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8019288" y="3520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8878"/>
                </a:solidFill>
              </a:rPr>
              <a:t>→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8321040" y="1828800"/>
            <a:ext cx="3566160" cy="3931920"/>
          </a:xfrm>
          <a:prstGeom prst="roundRect">
            <a:avLst>
              <a:gd name="adj" fmla="val 2308"/>
            </a:avLst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595360" y="2148840"/>
            <a:ext cx="777240" cy="777240"/>
          </a:xfrm>
          <a:prstGeom prst="ellipse">
            <a:avLst/>
          </a:prstGeom>
          <a:solidFill>
            <a:srgbClr val="D988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859536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2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0" y="219456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9536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Risk-Tier &amp; Explain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595360" y="36576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is mapped to a risk tier, paired with confidence scores and an independent ABCDE symptom check.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website (BreatheAI-style deployment) delivering instant, low-cost preliminary guidance for both doctors and patients.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85900" y="3086100"/>
            <a:ext cx="9235440" cy="0"/>
          </a:xfrm>
          <a:prstGeom prst="line">
            <a:avLst/>
          </a:prstGeom>
          <a:noFill/>
          <a:ln w="25400">
            <a:solidFill>
              <a:srgbClr val="C9D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1B3A4A"/>
          </a:solidFill>
          <a:ln/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65860" y="2606040"/>
            <a:ext cx="640080" cy="640080"/>
          </a:xfrm>
          <a:prstGeom prst="ellipse">
            <a:avLst/>
          </a:prstGeom>
          <a:solidFill>
            <a:srgbClr val="D988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164" y="275234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337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348740" y="294894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348740" y="29489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4A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32888" y="237744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1B3A4A"/>
          </a:solidFill>
          <a:ln/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012948" y="260604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9252" y="275234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41448" y="3337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195828" y="294894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195828" y="29489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4A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379976" y="237744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1B3A4A"/>
          </a:solidFill>
          <a:ln/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860036" y="2606040"/>
            <a:ext cx="640080" cy="640080"/>
          </a:xfrm>
          <a:prstGeom prst="ellipse">
            <a:avLst/>
          </a:prstGeom>
          <a:solidFill>
            <a:srgbClr val="D988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6340" y="275234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288536" y="3337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042916" y="294894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5042916" y="29489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4A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227064" y="237744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1B3A4A"/>
          </a:solidFill>
          <a:ln/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707124" y="260604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3428" y="2752344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135624" y="3337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890004" y="294894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6890004" y="29489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4A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8074152" y="237744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1B3A4A"/>
          </a:solidFill>
          <a:ln/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8554212" y="2606040"/>
            <a:ext cx="640080" cy="640080"/>
          </a:xfrm>
          <a:prstGeom prst="ellipse">
            <a:avLst/>
          </a:prstGeom>
          <a:solidFill>
            <a:srgbClr val="D988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0516" y="2752344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982712" y="3337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8737092" y="294894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8737092" y="29489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4A"/>
                </a:solidFill>
              </a:rPr>
              <a:t>5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9921240" y="237744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1B3A4A"/>
          </a:solidFill>
          <a:ln/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10401300" y="260604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7604" y="2752344"/>
            <a:ext cx="347472" cy="34747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829800" y="3337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10584180" y="294894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2"/>
          <p:cNvSpPr/>
          <p:nvPr/>
        </p:nvSpPr>
        <p:spPr>
          <a:xfrm>
            <a:off x="10584180" y="29489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4A"/>
                </a:solidFill>
              </a:rPr>
              <a:t>6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685800" y="5212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ISIC/HAM10000 images to a deployed, clinically-aware inference API.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STEP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HAM10000 (ISIC 2018 Task 3) — 7-class dermoscopic image archive, paired with metadata (age, sex, lesion site).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6675120" cy="41148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(orig.)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Balancing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Melanocytic Nevus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Melanoma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BKL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 Keratosis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Basal Cell Carcinoma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AKIEC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Actinic Keratosis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Vascular Lesion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Dermatofibroma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52360" y="1965960"/>
            <a:ext cx="4251960" cy="1874520"/>
          </a:xfrm>
          <a:prstGeom prst="roundRect">
            <a:avLst>
              <a:gd name="adj" fmla="val 3902"/>
            </a:avLst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680960" y="21214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98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6,009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680960" y="28803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 before balancing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 / val / test = 6,009 / 2,003 / 2,003)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52360" y="4023360"/>
            <a:ext cx="4251960" cy="2057400"/>
          </a:xfrm>
          <a:prstGeom prst="roundRect">
            <a:avLst>
              <a:gd name="adj" fmla="val 3556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7"/>
          <p:cNvSpPr/>
          <p:nvPr/>
        </p:nvSpPr>
        <p:spPr>
          <a:xfrm>
            <a:off x="7726680" y="422452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image leakage verified between train / val / test splits (stratified, no shared IDs).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26680" y="516636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dim: 18 features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(age, sex, 15 localization sites + unknown)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STEP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Class Distribution</a:t>
            </a:r>
            <a:endParaRPr lang="en-US" sz="3200" dirty="0"/>
          </a:p>
        </p:txBody>
      </p:sp>
      <p:pic>
        <p:nvPicPr>
          <p:cNvPr id="4" name="Class Distribution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6595"/>
            <a:ext cx="7680960" cy="302885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66760" y="14630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9536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 Dominates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595360" y="20116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NV: ~6,700 images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DF: ~90 images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366760" y="306324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imbalance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595360" y="3611880"/>
            <a:ext cx="2971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 (Melanocytic Nevus) makes up over half of the 11,000+ raw HAM10000 images.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and VASC each have well under 200 images — a ratio of roughly 58:1 vs. NV.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raw skew is exactly why oversampling to 4,023 images per class (Step 2) was necessary.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Clinical Preprocess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STEP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9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Data Preprocessing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paired with each image — age, sex, lesion site — is cleaned and encoded into a fixed-length numeric vector before multimodal fusion:</a:t>
            </a:r>
            <a:endParaRPr lang="en-US" sz="1300" dirty="0"/>
          </a:p>
        </p:txBody>
      </p:sp>
      <p:sp>
        <p:nvSpPr>
          <p:cNvPr id="5" name="Card 1"/>
          <p:cNvSpPr/>
          <p:nvPr/>
        </p:nvSpPr>
        <p:spPr>
          <a:xfrm>
            <a:off x="457200" y="1965960"/>
            <a:ext cx="3639312" cy="1500000"/>
          </a:xfrm>
          <a:prstGeom prst="roundRect">
            <a:avLst>
              <a:gd name="adj" fmla="val 5161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Icon 1"/>
          <p:cNvSpPr/>
          <p:nvPr/>
        </p:nvSpPr>
        <p:spPr>
          <a:xfrm>
            <a:off x="685800" y="2165960"/>
            <a:ext cx="365760" cy="365760"/>
          </a:xfrm>
          <a:prstGeom prst="ellipse">
            <a:avLst/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Num 1"/>
          <p:cNvSpPr/>
          <p:nvPr/>
        </p:nvSpPr>
        <p:spPr>
          <a:xfrm>
            <a:off x="685800" y="21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Label 1"/>
          <p:cNvSpPr/>
          <p:nvPr/>
        </p:nvSpPr>
        <p:spPr>
          <a:xfrm>
            <a:off x="685800" y="2615960"/>
            <a:ext cx="318211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9" name="Desc 1"/>
          <p:cNvSpPr/>
          <p:nvPr/>
        </p:nvSpPr>
        <p:spPr>
          <a:xfrm>
            <a:off x="685800" y="3015960"/>
            <a:ext cx="3182112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imputed with the cohort median; missing sex/site set to an explicit “unknown” category.</a:t>
            </a:r>
            <a:endParaRPr lang="en-US" sz="1050" dirty="0"/>
          </a:p>
        </p:txBody>
      </p:sp>
      <p:sp>
        <p:nvSpPr>
          <p:cNvPr id="10" name="Card 2"/>
          <p:cNvSpPr/>
          <p:nvPr/>
        </p:nvSpPr>
        <p:spPr>
          <a:xfrm>
            <a:off x="4352544" y="1965960"/>
            <a:ext cx="3639312" cy="1500000"/>
          </a:xfrm>
          <a:prstGeom prst="roundRect">
            <a:avLst>
              <a:gd name="adj" fmla="val 5161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Icon 2"/>
          <p:cNvSpPr/>
          <p:nvPr/>
        </p:nvSpPr>
        <p:spPr>
          <a:xfrm>
            <a:off x="4581144" y="2165960"/>
            <a:ext cx="365760" cy="365760"/>
          </a:xfrm>
          <a:prstGeom prst="ellipse">
            <a:avLst/>
          </a:prstGeom>
          <a:solidFill>
            <a:srgbClr val="D988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Num 2"/>
          <p:cNvSpPr/>
          <p:nvPr/>
        </p:nvSpPr>
        <p:spPr>
          <a:xfrm>
            <a:off x="4581144" y="21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Label 2"/>
          <p:cNvSpPr/>
          <p:nvPr/>
        </p:nvSpPr>
        <p:spPr>
          <a:xfrm>
            <a:off x="4581144" y="2615960"/>
            <a:ext cx="318211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Normalization</a:t>
            </a:r>
            <a:endParaRPr lang="en-US" sz="1250" dirty="0"/>
          </a:p>
        </p:txBody>
      </p:sp>
      <p:sp>
        <p:nvSpPr>
          <p:cNvPr id="14" name="Desc 2"/>
          <p:cNvSpPr/>
          <p:nvPr/>
        </p:nvSpPr>
        <p:spPr>
          <a:xfrm>
            <a:off x="4581144" y="3015960"/>
            <a:ext cx="3182112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age rescaled with min–max normalization to a fixed 0–1 range for stable MLP training.</a:t>
            </a:r>
            <a:endParaRPr lang="en-US" sz="1050" dirty="0"/>
          </a:p>
        </p:txBody>
      </p:sp>
      <p:sp>
        <p:nvSpPr>
          <p:cNvPr id="15" name="Card 3"/>
          <p:cNvSpPr/>
          <p:nvPr/>
        </p:nvSpPr>
        <p:spPr>
          <a:xfrm>
            <a:off x="457200" y="3665960"/>
            <a:ext cx="3639312" cy="1500000"/>
          </a:xfrm>
          <a:prstGeom prst="roundRect">
            <a:avLst>
              <a:gd name="adj" fmla="val 5161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Icon 3"/>
          <p:cNvSpPr/>
          <p:nvPr/>
        </p:nvSpPr>
        <p:spPr>
          <a:xfrm>
            <a:off x="685800" y="3865960"/>
            <a:ext cx="365760" cy="365760"/>
          </a:xfrm>
          <a:prstGeom prst="ellipse">
            <a:avLst/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Num 3"/>
          <p:cNvSpPr/>
          <p:nvPr/>
        </p:nvSpPr>
        <p:spPr>
          <a:xfrm>
            <a:off x="685800" y="38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Label 3"/>
          <p:cNvSpPr/>
          <p:nvPr/>
        </p:nvSpPr>
        <p:spPr>
          <a:xfrm>
            <a:off x="685800" y="4315960"/>
            <a:ext cx="318211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Encoding</a:t>
            </a:r>
            <a:endParaRPr lang="en-US" sz="1250" dirty="0"/>
          </a:p>
        </p:txBody>
      </p:sp>
      <p:sp>
        <p:nvSpPr>
          <p:cNvPr id="19" name="Desc 3"/>
          <p:cNvSpPr/>
          <p:nvPr/>
        </p:nvSpPr>
        <p:spPr>
          <a:xfrm>
            <a:off x="685800" y="4715960"/>
            <a:ext cx="3182112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 / unknown mapped to numeric labels via a compact categorical encoding.</a:t>
            </a:r>
            <a:endParaRPr lang="en-US" sz="1050" dirty="0"/>
          </a:p>
        </p:txBody>
      </p:sp>
      <p:sp>
        <p:nvSpPr>
          <p:cNvPr id="20" name="Card 4"/>
          <p:cNvSpPr/>
          <p:nvPr/>
        </p:nvSpPr>
        <p:spPr>
          <a:xfrm>
            <a:off x="4352544" y="3665960"/>
            <a:ext cx="3639312" cy="1500000"/>
          </a:xfrm>
          <a:prstGeom prst="roundRect">
            <a:avLst>
              <a:gd name="adj" fmla="val 5161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Icon 4"/>
          <p:cNvSpPr/>
          <p:nvPr/>
        </p:nvSpPr>
        <p:spPr>
          <a:xfrm>
            <a:off x="4581144" y="3865960"/>
            <a:ext cx="365760" cy="365760"/>
          </a:xfrm>
          <a:prstGeom prst="ellipse">
            <a:avLst/>
          </a:prstGeom>
          <a:solidFill>
            <a:srgbClr val="D988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Num 4"/>
          <p:cNvSpPr/>
          <p:nvPr/>
        </p:nvSpPr>
        <p:spPr>
          <a:xfrm>
            <a:off x="4581144" y="38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Label 4"/>
          <p:cNvSpPr/>
          <p:nvPr/>
        </p:nvSpPr>
        <p:spPr>
          <a:xfrm>
            <a:off x="4581144" y="4315960"/>
            <a:ext cx="318211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250" dirty="0"/>
          </a:p>
        </p:txBody>
      </p:sp>
      <p:sp>
        <p:nvSpPr>
          <p:cNvPr id="24" name="Desc 4"/>
          <p:cNvSpPr/>
          <p:nvPr/>
        </p:nvSpPr>
        <p:spPr>
          <a:xfrm>
            <a:off x="4581144" y="4715960"/>
            <a:ext cx="3182112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anatomical lesion sites plus “unknown” expanded into 16 binary indicator columns.</a:t>
            </a:r>
            <a:endParaRPr lang="en-US" sz="1050" dirty="0"/>
          </a:p>
        </p:txBody>
      </p:sp>
      <p:sp>
        <p:nvSpPr>
          <p:cNvPr id="25" name="Stat Card"/>
          <p:cNvSpPr/>
          <p:nvPr/>
        </p:nvSpPr>
        <p:spPr>
          <a:xfrm>
            <a:off x="8247888" y="1965960"/>
            <a:ext cx="3639312" cy="1300000"/>
          </a:xfrm>
          <a:prstGeom prst="roundRect">
            <a:avLst>
              <a:gd name="adj" fmla="val 5161"/>
            </a:avLst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tat Number"/>
          <p:cNvSpPr/>
          <p:nvPr/>
        </p:nvSpPr>
        <p:spPr>
          <a:xfrm>
            <a:off x="8476488" y="2100960"/>
            <a:ext cx="3182112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400" dirty="0"/>
          </a:p>
        </p:txBody>
      </p:sp>
      <p:sp>
        <p:nvSpPr>
          <p:cNvPr id="27" name="Stat Label"/>
          <p:cNvSpPr/>
          <p:nvPr/>
        </p:nvSpPr>
        <p:spPr>
          <a:xfrm>
            <a:off x="8476488" y="2820960"/>
            <a:ext cx="3182112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spc="150" dirty="0">
                <a:solidFill>
                  <a:srgbClr val="D9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CLINICAL VECTOR</a:t>
            </a:r>
            <a:endParaRPr lang="en-US" sz="1200" dirty="0"/>
          </a:p>
        </p:txBody>
      </p:sp>
      <p:sp>
        <p:nvSpPr>
          <p:cNvPr id="28" name="Breakdown Card"/>
          <p:cNvSpPr/>
          <p:nvPr/>
        </p:nvSpPr>
        <p:spPr>
          <a:xfrm>
            <a:off x="8247888" y="3465960"/>
            <a:ext cx="3639312" cy="1700000"/>
          </a:xfrm>
          <a:prstGeom prst="roundRect">
            <a:avLst>
              <a:gd name="adj" fmla="val 3500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Breakdown Title"/>
          <p:cNvSpPr/>
          <p:nvPr/>
        </p:nvSpPr>
        <p:spPr>
          <a:xfrm>
            <a:off x="8476488" y="360000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Feature Vector</a:t>
            </a:r>
            <a:endParaRPr lang="en-US" sz="1250" dirty="0"/>
          </a:p>
        </p:txBody>
      </p:sp>
      <p:sp>
        <p:nvSpPr>
          <p:cNvPr id="30" name="Breakdown List"/>
          <p:cNvSpPr/>
          <p:nvPr/>
        </p:nvSpPr>
        <p:spPr>
          <a:xfrm>
            <a:off x="8476488" y="3985760"/>
            <a:ext cx="3182112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(normalized) — 1</a:t>
            </a:r>
            <a:endParaRPr lang="en-US" sz="1050" dirty="0"/>
          </a:p>
          <a:p>
            <a:pPr marL="228600" indent="-2286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(encoded) — 1</a:t>
            </a:r>
            <a:endParaRPr lang="en-US" sz="105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one-hot — 16</a:t>
            </a:r>
            <a:endParaRPr lang="en-US" sz="1050" dirty="0"/>
          </a:p>
        </p:txBody>
      </p:sp>
      <p:sp>
        <p:nvSpPr>
          <p:cNvPr id="31" name="Breakdown Footer"/>
          <p:cNvSpPr/>
          <p:nvPr/>
        </p:nvSpPr>
        <p:spPr>
          <a:xfrm>
            <a:off x="8476488" y="4900000"/>
            <a:ext cx="3182112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with EfficientNet-B4 + BioBERT features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STEP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Balancing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 was heavily imbalanced (NV ≥58× more common than DF). We kept every majority-class image and oversampled minority classes up to the majority count, then applied a weighted sampler during training.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103120"/>
          <a:ext cx="112471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STEP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Augmentation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only to training images, to teach the model invariance to imaging conditions and orientation: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639312" cy="1417320"/>
          </a:xfrm>
          <a:prstGeom prst="roundRect">
            <a:avLst>
              <a:gd name="adj" fmla="val 5161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2167128"/>
            <a:ext cx="365760" cy="365760"/>
          </a:xfrm>
          <a:prstGeom prst="ellipse">
            <a:avLst/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624328"/>
            <a:ext cx="3182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Horizontal / Vertical Flip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999232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Lesions have no canonical orientation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52544" y="1965960"/>
            <a:ext cx="3639312" cy="1417320"/>
          </a:xfrm>
          <a:prstGeom prst="roundRect">
            <a:avLst>
              <a:gd name="adj" fmla="val 5161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81144" y="2167128"/>
            <a:ext cx="365760" cy="365760"/>
          </a:xfrm>
          <a:prstGeom prst="ellipse">
            <a:avLst/>
          </a:prstGeom>
          <a:solidFill>
            <a:srgbClr val="D988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81144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81144" y="2624328"/>
            <a:ext cx="3182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Rotation (±20°)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81144" y="2999232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dermatoscope angle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47888" y="1965960"/>
            <a:ext cx="3639312" cy="1417320"/>
          </a:xfrm>
          <a:prstGeom prst="roundRect">
            <a:avLst>
              <a:gd name="adj" fmla="val 5161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76488" y="2167128"/>
            <a:ext cx="365760" cy="365760"/>
          </a:xfrm>
          <a:prstGeom prst="ellipse">
            <a:avLst/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76488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76488" y="2624328"/>
            <a:ext cx="3182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Resized Crop (0.8–1.0)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76488" y="2999232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zoom / framing variance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39312"/>
            <a:ext cx="3639312" cy="1417320"/>
          </a:xfrm>
          <a:prstGeom prst="roundRect">
            <a:avLst>
              <a:gd name="adj" fmla="val 5161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5800" y="3840480"/>
            <a:ext cx="365760" cy="365760"/>
          </a:xfrm>
          <a:prstGeom prst="ellipse">
            <a:avLst/>
          </a:prstGeom>
          <a:solidFill>
            <a:srgbClr val="D988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297680"/>
            <a:ext cx="3182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Affine — Translate &amp; Shear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4672584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off-center capture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52544" y="3639312"/>
            <a:ext cx="3639312" cy="1417320"/>
          </a:xfrm>
          <a:prstGeom prst="roundRect">
            <a:avLst>
              <a:gd name="adj" fmla="val 5161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81144" y="3840480"/>
            <a:ext cx="365760" cy="365760"/>
          </a:xfrm>
          <a:prstGeom prst="ellipse">
            <a:avLst/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81144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81144" y="4297680"/>
            <a:ext cx="3182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Jitter (brightness/contrast ±0.2)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81144" y="4672584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lighting &amp; device differences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47888" y="3639312"/>
            <a:ext cx="3639312" cy="1417320"/>
          </a:xfrm>
          <a:prstGeom prst="roundRect">
            <a:avLst>
              <a:gd name="adj" fmla="val 5161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476488" y="3840480"/>
            <a:ext cx="365760" cy="365760"/>
          </a:xfrm>
          <a:prstGeom prst="ellipse">
            <a:avLst/>
          </a:prstGeom>
          <a:solidFill>
            <a:srgbClr val="D988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476488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76488" y="4297680"/>
            <a:ext cx="3182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Erasing (p=0.2)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476488" y="4672584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hair / occlusion artifacts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035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ImageNet normalization (mean/std) applied to all splits; evaluation images use only resize + normalize.</a:t>
            </a:r>
            <a:endParaRPr lang="en-US" sz="1150" dirty="0"/>
          </a:p>
        </p:txBody>
      </p:sp>
      <p:sp>
        <p:nvSpPr>
          <p:cNvPr id="37" name="Text Caption Sample"/>
          <p:cNvSpPr/>
          <p:nvPr/>
        </p:nvSpPr>
        <p:spPr>
          <a:xfrm>
            <a:off x="9601200" y="2256536"/>
            <a:ext cx="2001744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training image before augmentation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8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3A"/>
                </a:solidFill>
              </a:defRPr>
            </a:pPr>
            <a:r>
              <a:t>METHODOLOGY · STEP 3 — Augmentation Gallery on Real Hand Lesion</a:t>
            </a:r>
          </a:p>
        </p:txBody>
      </p:sp>
      <p:pic>
        <p:nvPicPr>
          <p:cNvPr id="5" name="Picture 4" descr="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58951"/>
            <a:ext cx="2743200" cy="26904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25222" y="1005840"/>
            <a:ext cx="85632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3A"/>
                </a:solidFill>
              </a:defRPr>
            </a:pPr>
            <a:r>
              <a:rPr sz="1600" dirty="0"/>
              <a:t>Original</a:t>
            </a:r>
          </a:p>
        </p:txBody>
      </p:sp>
      <p:pic>
        <p:nvPicPr>
          <p:cNvPr id="7" name="Picture 6" descr="Random_Horizontal___Vertical_Fl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371600"/>
            <a:ext cx="2743200" cy="26904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9926" y="1097280"/>
            <a:ext cx="283051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3A"/>
                </a:solidFill>
              </a:defRPr>
            </a:pPr>
            <a:r>
              <a:rPr sz="1400" dirty="0"/>
              <a:t>1. Random Horizontal / Vertical Flip</a:t>
            </a:r>
          </a:p>
        </p:txBody>
      </p:sp>
      <p:pic>
        <p:nvPicPr>
          <p:cNvPr id="9" name="Picture 8" descr="Random_Rotation_(±20°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71600"/>
            <a:ext cx="2743200" cy="26904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61657" y="1076071"/>
            <a:ext cx="215462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3A"/>
                </a:solidFill>
              </a:defRPr>
            </a:pPr>
            <a:r>
              <a:rPr sz="1400" dirty="0"/>
              <a:t>2. Random Rotation (±20°)</a:t>
            </a:r>
          </a:p>
        </p:txBody>
      </p:sp>
      <p:pic>
        <p:nvPicPr>
          <p:cNvPr id="11" name="Picture 10" descr="Random_Resized_Crop_(0.8-1.0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1371600"/>
            <a:ext cx="2743200" cy="27969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88198" y="1076071"/>
            <a:ext cx="264514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3A"/>
                </a:solidFill>
              </a:defRPr>
            </a:pPr>
            <a:r>
              <a:rPr sz="1400" dirty="0"/>
              <a:t>3. Random Resized Crop (0.8-1.0)</a:t>
            </a:r>
          </a:p>
        </p:txBody>
      </p:sp>
      <p:pic>
        <p:nvPicPr>
          <p:cNvPr id="13" name="Picture 12" descr="Random_Affine_-_Translate_&amp;_She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4023360"/>
            <a:ext cx="2743200" cy="269044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3973" y="5891436"/>
            <a:ext cx="19232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3A3A"/>
                </a:solidFill>
              </a:defRPr>
            </a:pPr>
            <a:r>
              <a:rPr sz="1600" dirty="0">
                <a:solidFill>
                  <a:schemeClr val="bg1"/>
                </a:solidFill>
              </a:rPr>
              <a:t>4. Random Affine — Translate &amp; Shear</a:t>
            </a:r>
          </a:p>
        </p:txBody>
      </p:sp>
      <p:pic>
        <p:nvPicPr>
          <p:cNvPr id="15" name="Picture 14" descr="Color_Jitter_(brightness_contrast_±0.2)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4023360"/>
            <a:ext cx="2743200" cy="269044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62940" y="5894299"/>
            <a:ext cx="14619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3A3A"/>
                </a:solidFill>
              </a:defRPr>
            </a:pPr>
            <a:r>
              <a:rPr sz="1400" dirty="0">
                <a:solidFill>
                  <a:schemeClr val="bg1"/>
                </a:solidFill>
              </a:rPr>
              <a:t>5. Color Jitter (brightness/contrast ±0.2)</a:t>
            </a:r>
          </a:p>
        </p:txBody>
      </p:sp>
      <p:pic>
        <p:nvPicPr>
          <p:cNvPr id="17" name="Picture 16" descr="Random_Erasing_(p=0.2)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8880" y="4014568"/>
            <a:ext cx="2743200" cy="269044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5180" y="6307755"/>
            <a:ext cx="241155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3A"/>
                </a:solidFill>
              </a:defRPr>
            </a:pPr>
            <a:r>
              <a:rPr sz="1600" dirty="0">
                <a:solidFill>
                  <a:schemeClr val="bg1"/>
                </a:solidFill>
              </a:rPr>
              <a:t>6. Random Erasing (p=0.2)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STEP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132B37"/>
          </a:solidFill>
          <a:ln w="15875">
            <a:solidFill>
              <a:srgbClr val="D98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470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Dermoscopic Image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(ImageNet pretrained)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132B37"/>
          </a:solidFill>
          <a:ln w="1587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36301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Vector (18-d)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· sex · 15 body sites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18→64→32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(ReLU + Dropout 0.2)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776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8878"/>
                </a:solidFill>
              </a:rPr>
              <a:t>→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9776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33D"/>
                </a:solidFill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617720" y="269748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D988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3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3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img_dim + 32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26948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7909560" y="237744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32B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3816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Head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0" y="2926080"/>
            <a:ext cx="3337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Linear(→256) + ReLU + Dropout(0.3)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Linear(256→7) → Softmax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MEL / NV / BCC / AKIEC / BKL / DF / VASC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AF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loss/optimizer/scheduler configurations were trained end-to-end on top of this shared architecture (see next slide).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STEP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Experiments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14630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Val Macro F1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 (lr 1e-4)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Cross-Entropy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ReduceLROnPlateau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 (lr 1e-4, wd 1e-4)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Focal Loss (γ=2)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Annealing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training settings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3749040"/>
            <a:ext cx="5760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15 epochs, early stopping patience = 5 (on validation macro F1)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32, mixed-precision (AMP) training on GPU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WeightedRandomSampler over the (already balanced) training set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saved whenever validation macro F1 improved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92240" y="3337560"/>
            <a:ext cx="5212080" cy="2880360"/>
          </a:xfrm>
          <a:prstGeom prst="roundRect">
            <a:avLst>
              <a:gd name="adj" fmla="val 2540"/>
            </a:avLst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766560" y="3520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Baseline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766560" y="397764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6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cross-entropy with class-balanced oversampling outperformed the focal-loss + AdamW + cosine configuration on this already-balanced training set — the extra focal weighting added variance without a clear macro-F1 gain within 15 epochs.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STEP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— Learning Curve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76809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4630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9536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Epoch: 12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595360" y="20116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Macro F1 = 0.8254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 = 88.52%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366760" y="306324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curve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595360" y="3611880"/>
            <a:ext cx="2971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 climbs smoothly past 98% — the model fits the oversampled data well.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plateaus near 87–88%, showing a realistic generalization gap.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peaks at epoch 12 then early stopping halts training at epoch 15.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Test Performance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8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86.9%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20848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4173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14813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8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20848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4173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72200" y="14813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8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72200" y="20848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23960" y="14173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61120" y="14813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8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961120" y="20848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7406640" cy="35661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AKIEC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BKL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8092440" y="28346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321040" y="3383280"/>
            <a:ext cx="32461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 (majority, benign) is classified with 0.94 F1 — the easiest, lowest-risk class.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MEL, the most dangerous class, still trails at 0.64 F1 — the hardest and most clinically important gap to close.</a:t>
            </a:r>
            <a:endParaRPr lang="en-US" sz="108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08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classes (DF, VASC) benefit clearly from oversampling, reaching 0.81–0.89 F1.</a:t>
            </a:r>
            <a:endParaRPr lang="en-US" sz="10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Set Confusion Matrix</a:t>
            </a:r>
            <a:endParaRPr lang="en-US" sz="3200" dirty="0"/>
          </a:p>
        </p:txBody>
      </p:sp>
      <p:pic>
        <p:nvPicPr>
          <p:cNvPr id="4" name="Confusion Matri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324" y="1463040"/>
            <a:ext cx="5830712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66760" y="14630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9536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NV: 1,285 correct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595360" y="20116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1,341 NV cases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MEL: 141 / 223 correct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366760" y="306324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matrix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595360" y="3611880"/>
            <a:ext cx="2971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diagonal is strong for NV, BCC, and VASC — these classes are rarely confused with others.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is most often mistaken for NV (69 cases) — the clinically riskiest confusion in the matrix.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BKL also spreads into MEL and NV (28 each), reflecting visual overlap between benign and malignant pigmented lesions.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EXPLAINABILITY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Grad-CAM: Seeing What the Model Sees</a:t>
            </a:r>
            <a:endParaRPr lang="en-US" sz="3200" dirty="0"/>
          </a:p>
        </p:txBody>
      </p:sp>
      <p:pic>
        <p:nvPicPr>
          <p:cNvPr id="4" name="Grad-CAM Heatmap" descr="Original dermoscopic image alongside its Grad-CAM heatmap, showing the model's attention concentrated on the le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000" y="1350000"/>
            <a:ext cx="6800000" cy="316467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700000"/>
            <a:ext cx="11277600" cy="1700800"/>
          </a:xfrm>
          <a:prstGeom prst="roundRect">
            <a:avLst>
              <a:gd name="adj" fmla="val 2254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48370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on the lesion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5202080"/>
            <a:ext cx="352044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warm red/orange region sits directly over the pigmented lesion, not the surrounding skin.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382640" y="48370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382640" y="5202080"/>
            <a:ext cx="352044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network is reasoning from the lesion itself, not rulers, hair, or lighting artifacts in the frame.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80080" y="4837000"/>
            <a:ext cx="338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role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080080" y="5202080"/>
            <a:ext cx="338252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dermatologists a visual check on every prediction, the transparency referenced in our stakeholder pitch.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132B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94360" cy="594360"/>
          </a:xfrm>
          <a:prstGeom prst="ellipse">
            <a:avLst/>
          </a:prstGeom>
          <a:solidFill>
            <a:srgbClr val="D988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9751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GUI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03580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image + age / sex / lesion site form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209544" y="251460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8878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456432" y="160020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132B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85032" y="182880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336" y="197510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5032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85032" y="303580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best checkpoint + model_config.json; exposes /predict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63056" y="251460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887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409944" y="160020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132B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638544" y="1828800"/>
            <a:ext cx="594360" cy="594360"/>
          </a:xfrm>
          <a:prstGeom prst="ellipse">
            <a:avLst/>
          </a:prstGeom>
          <a:solidFill>
            <a:srgbClr val="D988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8" y="197510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38544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Augmentation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638544" y="303580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predictions over 3 views (original, h-flip, v-flip)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9116568" y="251460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8878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9363456" y="160020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132B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592056" y="182880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0" y="1975104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592056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Risk-Tiered Output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592056" y="303580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+ confidence per class + Critical/High/Moderate/Low tier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02920" y="425196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D988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777240" y="44165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ABCDE Symptom Check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777240" y="4828032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 also lets users flag Asymmetry, Border irregularity, Color variation, Diameter &gt;6mm, and Evolving change. This rule-based score is shown as a separate advisory banner alongside the model's result — never merged into the model's training or prediction — so a low-risk model output is never silently overridden by, or confused with, model confidence.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4" name="Card 0"/>
          <p:cNvSpPr/>
          <p:nvPr/>
        </p:nvSpPr>
        <p:spPr>
          <a:xfrm>
            <a:off x="457200" y="1554480"/>
            <a:ext cx="2682240" cy="2331720"/>
          </a:xfrm>
          <a:prstGeom prst="roundRect">
            <a:avLst>
              <a:gd name="adj" fmla="val 3830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Circle 0"/>
          <p:cNvSpPr/>
          <p:nvPr/>
        </p:nvSpPr>
        <p:spPr>
          <a:xfrm>
            <a:off x="685800" y="1783080"/>
            <a:ext cx="548640" cy="548640"/>
          </a:xfrm>
          <a:prstGeom prst="ellipse">
            <a:avLst/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con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20240"/>
            <a:ext cx="274320" cy="274320"/>
          </a:xfrm>
          <a:prstGeom prst="rect">
            <a:avLst/>
          </a:prstGeom>
        </p:spPr>
      </p:pic>
      <p:sp>
        <p:nvSpPr>
          <p:cNvPr id="7" name="Title 0"/>
          <p:cNvSpPr/>
          <p:nvPr/>
        </p:nvSpPr>
        <p:spPr>
          <a:xfrm>
            <a:off x="685800" y="2431720"/>
            <a:ext cx="222504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Segmentation</a:t>
            </a:r>
            <a:endParaRPr lang="en-US" sz="1200" dirty="0"/>
          </a:p>
        </p:txBody>
      </p:sp>
      <p:sp>
        <p:nvSpPr>
          <p:cNvPr id="8" name="Desc 0"/>
          <p:cNvSpPr/>
          <p:nvPr/>
        </p:nvSpPr>
        <p:spPr>
          <a:xfrm>
            <a:off x="685800" y="2941720"/>
            <a:ext cx="2225040" cy="71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the lesion before classification to reduce background noise.</a:t>
            </a:r>
            <a:endParaRPr lang="en-US" sz="950" dirty="0"/>
          </a:p>
        </p:txBody>
      </p:sp>
      <p:sp>
        <p:nvSpPr>
          <p:cNvPr id="9" name="Card 1"/>
          <p:cNvSpPr/>
          <p:nvPr/>
        </p:nvSpPr>
        <p:spPr>
          <a:xfrm>
            <a:off x="3322320" y="1554480"/>
            <a:ext cx="2682240" cy="2331720"/>
          </a:xfrm>
          <a:prstGeom prst="roundRect">
            <a:avLst>
              <a:gd name="adj" fmla="val 3830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Circle 1"/>
          <p:cNvSpPr/>
          <p:nvPr/>
        </p:nvSpPr>
        <p:spPr>
          <a:xfrm>
            <a:off x="3550920" y="1783080"/>
            <a:ext cx="548640" cy="548640"/>
          </a:xfrm>
          <a:prstGeom prst="ellipse">
            <a:avLst/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con 1" descr="preencode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88080" y="1920240"/>
            <a:ext cx="274320" cy="274320"/>
          </a:xfrm>
          <a:prstGeom prst="rect">
            <a:avLst/>
          </a:prstGeom>
        </p:spPr>
      </p:pic>
      <p:sp>
        <p:nvSpPr>
          <p:cNvPr id="12" name="Title 1"/>
          <p:cNvSpPr/>
          <p:nvPr/>
        </p:nvSpPr>
        <p:spPr>
          <a:xfrm>
            <a:off x="3550920" y="2431720"/>
            <a:ext cx="222504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Chatbot</a:t>
            </a:r>
            <a:endParaRPr lang="en-US" sz="1200" dirty="0"/>
          </a:p>
        </p:txBody>
      </p:sp>
      <p:sp>
        <p:nvSpPr>
          <p:cNvPr id="13" name="Desc 1"/>
          <p:cNvSpPr/>
          <p:nvPr/>
        </p:nvSpPr>
        <p:spPr>
          <a:xfrm>
            <a:off x="3550920" y="2941720"/>
            <a:ext cx="2225040" cy="71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patients and answer questions while awaiting physician review.</a:t>
            </a:r>
            <a:endParaRPr lang="en-US" sz="950" dirty="0"/>
          </a:p>
        </p:txBody>
      </p:sp>
      <p:sp>
        <p:nvSpPr>
          <p:cNvPr id="14" name="Card 2"/>
          <p:cNvSpPr/>
          <p:nvPr/>
        </p:nvSpPr>
        <p:spPr>
          <a:xfrm>
            <a:off x="6187440" y="1554480"/>
            <a:ext cx="2682240" cy="2331720"/>
          </a:xfrm>
          <a:prstGeom prst="roundRect">
            <a:avLst>
              <a:gd name="adj" fmla="val 3830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Circle 2"/>
          <p:cNvSpPr/>
          <p:nvPr/>
        </p:nvSpPr>
        <p:spPr>
          <a:xfrm>
            <a:off x="6416040" y="1783080"/>
            <a:ext cx="548640" cy="548640"/>
          </a:xfrm>
          <a:prstGeom prst="ellipse">
            <a:avLst/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con 2" descr="preencoded.png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553200" y="1920240"/>
            <a:ext cx="274320" cy="274320"/>
          </a:xfrm>
          <a:prstGeom prst="rect">
            <a:avLst/>
          </a:prstGeom>
        </p:spPr>
      </p:pic>
      <p:sp>
        <p:nvSpPr>
          <p:cNvPr id="17" name="Title 2"/>
          <p:cNvSpPr/>
          <p:nvPr/>
        </p:nvSpPr>
        <p:spPr>
          <a:xfrm>
            <a:off x="6416040" y="2431720"/>
            <a:ext cx="222504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18" name="Desc 2"/>
          <p:cNvSpPr/>
          <p:nvPr/>
        </p:nvSpPr>
        <p:spPr>
          <a:xfrm>
            <a:off x="6416040" y="2941720"/>
            <a:ext cx="2225040" cy="71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camera capture with on-device preprocessing for consistent photos.</a:t>
            </a:r>
            <a:endParaRPr lang="en-US" sz="950" dirty="0"/>
          </a:p>
        </p:txBody>
      </p:sp>
      <p:sp>
        <p:nvSpPr>
          <p:cNvPr id="19" name="Card 3"/>
          <p:cNvSpPr/>
          <p:nvPr/>
        </p:nvSpPr>
        <p:spPr>
          <a:xfrm>
            <a:off x="9052560" y="1554480"/>
            <a:ext cx="2682240" cy="2331720"/>
          </a:xfrm>
          <a:prstGeom prst="roundRect">
            <a:avLst>
              <a:gd name="adj" fmla="val 3830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Circle 3"/>
          <p:cNvSpPr/>
          <p:nvPr/>
        </p:nvSpPr>
        <p:spPr>
          <a:xfrm>
            <a:off x="9281160" y="1783080"/>
            <a:ext cx="548640" cy="548640"/>
          </a:xfrm>
          <a:prstGeom prst="ellipse">
            <a:avLst/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con 3" descr="preencoded.png"/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418320" y="1920240"/>
            <a:ext cx="274320" cy="274320"/>
          </a:xfrm>
          <a:prstGeom prst="rect">
            <a:avLst/>
          </a:prstGeom>
        </p:spPr>
      </p:pic>
      <p:sp>
        <p:nvSpPr>
          <p:cNvPr id="22" name="Title 3"/>
          <p:cNvSpPr/>
          <p:nvPr/>
        </p:nvSpPr>
        <p:spPr>
          <a:xfrm>
            <a:off x="9281160" y="2431720"/>
            <a:ext cx="222504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Confidence</a:t>
            </a:r>
            <a:endParaRPr lang="en-US" sz="1200" dirty="0"/>
          </a:p>
        </p:txBody>
      </p:sp>
      <p:sp>
        <p:nvSpPr>
          <p:cNvPr id="23" name="Desc 3"/>
          <p:cNvSpPr/>
          <p:nvPr/>
        </p:nvSpPr>
        <p:spPr>
          <a:xfrm>
            <a:off x="9281160" y="2941720"/>
            <a:ext cx="2225040" cy="71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scaling so confidence scores better reflect true risk.</a:t>
            </a:r>
            <a:endParaRPr lang="en-US" sz="950" dirty="0"/>
          </a:p>
        </p:txBody>
      </p:sp>
      <p:sp>
        <p:nvSpPr>
          <p:cNvPr id="24" name="Card 4"/>
          <p:cNvSpPr/>
          <p:nvPr/>
        </p:nvSpPr>
        <p:spPr>
          <a:xfrm>
            <a:off x="1889760" y="4069080"/>
            <a:ext cx="2682240" cy="2331720"/>
          </a:xfrm>
          <a:prstGeom prst="roundRect">
            <a:avLst>
              <a:gd name="adj" fmla="val 3830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Circle 4"/>
          <p:cNvSpPr/>
          <p:nvPr/>
        </p:nvSpPr>
        <p:spPr>
          <a:xfrm>
            <a:off x="2118360" y="4297680"/>
            <a:ext cx="548640" cy="548640"/>
          </a:xfrm>
          <a:prstGeom prst="ellipse">
            <a:avLst/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con 4" descr="preencoded.png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255520" y="4434840"/>
            <a:ext cx="274320" cy="274320"/>
          </a:xfrm>
          <a:prstGeom prst="rect">
            <a:avLst/>
          </a:prstGeom>
        </p:spPr>
      </p:pic>
      <p:sp>
        <p:nvSpPr>
          <p:cNvPr id="27" name="Title 4"/>
          <p:cNvSpPr/>
          <p:nvPr/>
        </p:nvSpPr>
        <p:spPr>
          <a:xfrm>
            <a:off x="2118360" y="4946320"/>
            <a:ext cx="222504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 + XGBoost</a:t>
            </a:r>
            <a:endParaRPr lang="en-US" sz="1200" dirty="0"/>
          </a:p>
        </p:txBody>
      </p:sp>
      <p:sp>
        <p:nvSpPr>
          <p:cNvPr id="28" name="Desc 4"/>
          <p:cNvSpPr/>
          <p:nvPr/>
        </p:nvSpPr>
        <p:spPr>
          <a:xfrm>
            <a:off x="2118360" y="5456320"/>
            <a:ext cx="2225040" cy="71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on frozen CNN embeddings to lift minority-class recall.</a:t>
            </a:r>
            <a:endParaRPr lang="en-US" sz="950" dirty="0"/>
          </a:p>
        </p:txBody>
      </p:sp>
      <p:sp>
        <p:nvSpPr>
          <p:cNvPr id="29" name="Card 5"/>
          <p:cNvSpPr/>
          <p:nvPr/>
        </p:nvSpPr>
        <p:spPr>
          <a:xfrm>
            <a:off x="4754880" y="4069080"/>
            <a:ext cx="2682240" cy="2331720"/>
          </a:xfrm>
          <a:prstGeom prst="roundRect">
            <a:avLst>
              <a:gd name="adj" fmla="val 3830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Circle 5"/>
          <p:cNvSpPr/>
          <p:nvPr/>
        </p:nvSpPr>
        <p:spPr>
          <a:xfrm>
            <a:off x="4983480" y="4297680"/>
            <a:ext cx="548640" cy="548640"/>
          </a:xfrm>
          <a:prstGeom prst="ellipse">
            <a:avLst/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con 5" descr="preencoded.png"/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20640" y="4434840"/>
            <a:ext cx="274320" cy="274320"/>
          </a:xfrm>
          <a:prstGeom prst="rect">
            <a:avLst/>
          </a:prstGeom>
        </p:spPr>
      </p:pic>
      <p:sp>
        <p:nvSpPr>
          <p:cNvPr id="32" name="Title 5"/>
          <p:cNvSpPr/>
          <p:nvPr/>
        </p:nvSpPr>
        <p:spPr>
          <a:xfrm>
            <a:off x="4983480" y="4946320"/>
            <a:ext cx="222504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 + Random Forest</a:t>
            </a:r>
            <a:endParaRPr lang="en-US" sz="1200" dirty="0"/>
          </a:p>
        </p:txBody>
      </p:sp>
      <p:sp>
        <p:nvSpPr>
          <p:cNvPr id="33" name="Desc 5"/>
          <p:cNvSpPr/>
          <p:nvPr/>
        </p:nvSpPr>
        <p:spPr>
          <a:xfrm>
            <a:off x="4983480" y="5456320"/>
            <a:ext cx="2225040" cy="71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head on CNN features as a lightweight, interpretable alternative.</a:t>
            </a:r>
            <a:endParaRPr lang="en-US" sz="950" dirty="0"/>
          </a:p>
        </p:txBody>
      </p:sp>
      <p:sp>
        <p:nvSpPr>
          <p:cNvPr id="34" name="Card 6"/>
          <p:cNvSpPr/>
          <p:nvPr/>
        </p:nvSpPr>
        <p:spPr>
          <a:xfrm>
            <a:off x="7620000" y="4069080"/>
            <a:ext cx="2682240" cy="2331720"/>
          </a:xfrm>
          <a:prstGeom prst="roundRect">
            <a:avLst>
              <a:gd name="adj" fmla="val 3830"/>
            </a:avLst>
          </a:prstGeom>
          <a:solidFill>
            <a:srgbClr val="EE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Circle 6"/>
          <p:cNvSpPr/>
          <p:nvPr/>
        </p:nvSpPr>
        <p:spPr>
          <a:xfrm>
            <a:off x="7848600" y="4297680"/>
            <a:ext cx="548640" cy="548640"/>
          </a:xfrm>
          <a:prstGeom prst="ellipse">
            <a:avLst/>
          </a:prstGeom>
          <a:solidFill>
            <a:srgbClr val="1B3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con 6" descr="preencoded.png"/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985760" y="4434840"/>
            <a:ext cx="274320" cy="274320"/>
          </a:xfrm>
          <a:prstGeom prst="rect">
            <a:avLst/>
          </a:prstGeom>
        </p:spPr>
      </p:pic>
      <p:sp>
        <p:nvSpPr>
          <p:cNvPr id="37" name="Title 6"/>
          <p:cNvSpPr/>
          <p:nvPr/>
        </p:nvSpPr>
        <p:spPr>
          <a:xfrm>
            <a:off x="7848600" y="4946320"/>
            <a:ext cx="222504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 + SVM</a:t>
            </a:r>
            <a:endParaRPr lang="en-US" sz="1200" dirty="0"/>
          </a:p>
        </p:txBody>
      </p:sp>
      <p:sp>
        <p:nvSpPr>
          <p:cNvPr id="38" name="Desc 6"/>
          <p:cNvSpPr/>
          <p:nvPr/>
        </p:nvSpPr>
        <p:spPr>
          <a:xfrm>
            <a:off x="7848600" y="5456320"/>
            <a:ext cx="2225040" cy="71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SVM classifier on frozen embeddings, well suited to our modest dataset size.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ln w="19050">
            <a:solidFill>
              <a:srgbClr val="2C55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61120" y="3657600"/>
            <a:ext cx="5029200" cy="5029200"/>
          </a:xfrm>
          <a:prstGeom prst="ellipse">
            <a:avLst/>
          </a:prstGeom>
          <a:solidFill>
            <a:srgbClr val="132B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1923</Words>
  <Application>Microsoft Office PowerPoint</Application>
  <PresentationFormat>Widescreen</PresentationFormat>
  <Paragraphs>388</Paragraphs>
  <Slides>23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Skin Lesion Diagnosis</dc:title>
  <dc:subject>PptxGenJS Presentation</dc:subject>
  <dc:creator>Skin Lesion AI Project</dc:creator>
  <cp:lastModifiedBy>fady mamdouh</cp:lastModifiedBy>
  <cp:revision>6</cp:revision>
  <dcterms:created xsi:type="dcterms:W3CDTF">2026-07-07T00:11:24Z</dcterms:created>
  <dcterms:modified xsi:type="dcterms:W3CDTF">2026-07-14T17:42:03Z</dcterms:modified>
</cp:coreProperties>
</file>